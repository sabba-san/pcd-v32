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6858000" cy="9144000"/>
  <p:defaultTextStyle/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13" autoAdjust="0"/>
    <p:restoredTop sz="94660"/>
  </p:normalViewPr>
  <p:slideViewPr>
    <p:cSldViewPr snapToGrid="0" showGuides="1">
      <p:cViewPr>
        <p:scale>
          <a:sx n="139" d="100"/>
          <a:sy n="139" d="100"/>
        </p:scale>
        <p:origin x="84" y="-10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7" cy="780287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userDrawn="1">
  <p:cSld name="Blank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DLP Advisor Master">
    <p:bg>
      <p:bgRef idx="1001">
        <a:schemeClr val="lt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0" y="0"/>
            <a:ext cx="9144000" cy="240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520000" y="320000"/>
            <a:ext cx="8100000" cy="60000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l"/>
            <a:r>
              <a:rPr lang="en-US" sz="2800" b="1">
                <a:solidFill>
                  <a:srgbClr val="17324D"/>
                </a:solidFill>
              </a:rPr>
              <a:t>DLP Advisor Platform</a:t>
            </a:r>
            <a:endParaRPr lang="en-US" sz="2800"/>
          </a:p>
        </p:txBody>
      </p:sp>
      <p:sp>
        <p:nvSpPr>
          <p:cNvPr id="4" name="Body"/>
          <p:cNvSpPr txBox="1"/>
          <p:nvPr/>
        </p:nvSpPr>
        <p:spPr>
          <a:xfrm>
            <a:off x="520000" y="1020000"/>
            <a:ext cx="8050000" cy="360000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l"/>
            <a:r>
              <a:rPr lang="en-US" sz="1850">
                <a:solidFill>
                  <a:srgbClr val="334155"/>
                </a:solidFill>
              </a:rPr>
              <a:t>Role-based guide for using the website effectively.</a:t>
            </a:r>
            <a:endParaRPr lang="en-US" sz="1850"/>
          </a:p>
          <a:p>
            <a:pPr algn="l"/>
            <a:r>
              <a:rPr lang="en-US" sz="1850">
                <a:solidFill>
                  <a:srgbClr val="334155"/>
                </a:solidFill>
              </a:rPr>
              <a:t>Designed for Homeowner, Developer, and Lawyer workflows.</a:t>
            </a:r>
            <a:endParaRPr lang="en-US" sz="1850"/>
          </a:p>
          <a:p>
            <a:pPr algn="l"/>
            <a:r>
              <a:rPr lang="en-US" sz="1850">
                <a:solidFill>
                  <a:srgbClr val="334155"/>
                </a:solidFill>
              </a:rPr>
              <a:t>Supports defect reporting, repair tracking, legal review, and report generation.</a:t>
            </a:r>
            <a:endParaRPr lang="en-US" sz="1850"/>
          </a:p>
          <a:p>
            <a:pPr algn="l"/>
            <a:r>
              <a:rPr lang="en-US" sz="1850">
                <a:solidFill>
                  <a:srgbClr val="334155"/>
                </a:solidFill>
              </a:rPr>
              <a:t>Prepared for FYP presentation, user onboarding, and system briefing.</a:t>
            </a:r>
            <a:endParaRPr lang="en-US" sz="1850"/>
          </a:p>
        </p:txBody>
      </p:sp>
      <p:sp>
        <p:nvSpPr>
          <p:cNvPr id="5" name="Footer"/>
          <p:cNvSpPr txBox="1"/>
          <p:nvPr/>
        </p:nvSpPr>
        <p:spPr>
          <a:xfrm>
            <a:off x="520000" y="4600000"/>
            <a:ext cx="8050000" cy="25000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l"/>
            <a:r>
              <a:rPr lang="en-US" sz="1100">
                <a:solidFill>
                  <a:srgbClr val="64748B"/>
                </a:solidFill>
              </a:rPr>
              <a:t>Slide 1 of 11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0" y="0"/>
            <a:ext cx="9144000" cy="240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520000" y="320000"/>
            <a:ext cx="8100000" cy="60000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l"/>
            <a:r>
              <a:rPr lang="en-US" sz="2800" b="1">
                <a:solidFill>
                  <a:srgbClr val="17324D"/>
                </a:solidFill>
              </a:rPr>
              <a:t>Platform Purpose and Main Functions</a:t>
            </a:r>
            <a:endParaRPr lang="en-US" sz="2800"/>
          </a:p>
        </p:txBody>
      </p:sp>
      <p:sp>
        <p:nvSpPr>
          <p:cNvPr id="4" name="Body"/>
          <p:cNvSpPr txBox="1"/>
          <p:nvPr/>
        </p:nvSpPr>
        <p:spPr>
          <a:xfrm>
            <a:off x="520000" y="1020000"/>
            <a:ext cx="8050000" cy="360000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l"/>
            <a:r>
              <a:rPr lang="en-US" sz="1650">
                <a:solidFill>
                  <a:srgbClr val="334155"/>
                </a:solidFill>
              </a:rPr>
              <a:t>1. The platform manages property defect cases during the Defect Liability Period (DLP).</a:t>
            </a:r>
            <a:endParaRPr lang="en-US" sz="1650"/>
          </a:p>
          <a:p>
            <a:pPr algn="l"/>
            <a:r>
              <a:rPr lang="en-US" sz="1650">
                <a:solidFill>
                  <a:srgbClr val="334155"/>
                </a:solidFill>
              </a:rPr>
              <a:t>2. Homeowners can submit defect complaints with photos and 3D property models.</a:t>
            </a:r>
            <a:endParaRPr lang="en-US" sz="1650"/>
          </a:p>
          <a:p>
            <a:pPr algn="l"/>
            <a:r>
              <a:rPr lang="en-US" sz="1650">
                <a:solidFill>
                  <a:srgbClr val="334155"/>
                </a:solidFill>
              </a:rPr>
              <a:t>3. Developers can review complaints, manage repairs, and update the case status.</a:t>
            </a:r>
            <a:endParaRPr lang="en-US" sz="1650"/>
          </a:p>
          <a:p>
            <a:pPr algn="l"/>
            <a:r>
              <a:rPr lang="en-US" sz="1650">
                <a:solidFill>
                  <a:srgbClr val="334155"/>
                </a:solidFill>
              </a:rPr>
              <a:t>4. Lawyers can review case details, provide legal comments, and use AI legal support.</a:t>
            </a:r>
            <a:endParaRPr lang="en-US" sz="1650"/>
          </a:p>
          <a:p>
            <a:pPr algn="l"/>
            <a:r>
              <a:rPr lang="en-US" sz="1650">
                <a:solidFill>
                  <a:srgbClr val="334155"/>
                </a:solidFill>
              </a:rPr>
              <a:t>5. The system centralizes complaint records, status history, and formal report output.</a:t>
            </a:r>
            <a:endParaRPr lang="en-US" sz="1650"/>
          </a:p>
          <a:p>
            <a:pPr algn="l"/>
            <a:r>
              <a:rPr lang="en-US" sz="1650">
                <a:solidFill>
                  <a:srgbClr val="334155"/>
                </a:solidFill>
              </a:rPr>
              <a:t>6. This reduces manual communication and makes the workflow easier to monitor.</a:t>
            </a:r>
            <a:endParaRPr lang="en-US" sz="1650"/>
          </a:p>
        </p:txBody>
      </p:sp>
      <p:sp>
        <p:nvSpPr>
          <p:cNvPr id="5" name="Footer"/>
          <p:cNvSpPr txBox="1"/>
          <p:nvPr/>
        </p:nvSpPr>
        <p:spPr>
          <a:xfrm>
            <a:off x="520000" y="4600000"/>
            <a:ext cx="8050000" cy="25000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l"/>
            <a:r>
              <a:rPr lang="en-US" sz="1100">
                <a:solidFill>
                  <a:srgbClr val="64748B"/>
                </a:solidFill>
              </a:rPr>
              <a:t>Slide 2 of 11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0" y="0"/>
            <a:ext cx="9144000" cy="240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520000" y="320000"/>
            <a:ext cx="8100000" cy="60000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l"/>
            <a:r>
              <a:rPr lang="en-US" sz="2800" b="1">
                <a:solidFill>
                  <a:srgbClr val="17324D"/>
                </a:solidFill>
              </a:rPr>
              <a:t>Getting Started</a:t>
            </a:r>
            <a:endParaRPr lang="en-US" sz="2800"/>
          </a:p>
        </p:txBody>
      </p:sp>
      <p:sp>
        <p:nvSpPr>
          <p:cNvPr id="4" name="Body"/>
          <p:cNvSpPr txBox="1"/>
          <p:nvPr/>
        </p:nvSpPr>
        <p:spPr>
          <a:xfrm>
            <a:off x="520000" y="1020000"/>
            <a:ext cx="8050000" cy="360000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l"/>
            <a:r>
              <a:rPr lang="en-US" sz="1650">
                <a:solidFill>
                  <a:srgbClr val="334155"/>
                </a:solidFill>
              </a:rPr>
              <a:t>1. Open the website and register if you are a new user.</a:t>
            </a:r>
            <a:endParaRPr lang="en-US" sz="1650"/>
          </a:p>
          <a:p>
            <a:pPr algn="l"/>
            <a:r>
              <a:rPr lang="en-US" sz="1650">
                <a:solidFill>
                  <a:srgbClr val="334155"/>
                </a:solidFill>
              </a:rPr>
              <a:t>2. Choose the correct role during registration: Homeowner, Developer, or Lawyer.</a:t>
            </a:r>
            <a:endParaRPr lang="en-US" sz="1650"/>
          </a:p>
          <a:p>
            <a:pPr algn="l"/>
            <a:r>
              <a:rPr lang="en-US" sz="1650">
                <a:solidFill>
                  <a:srgbClr val="334155"/>
                </a:solidFill>
              </a:rPr>
              <a:t>3. Log in using your registered email and password.</a:t>
            </a:r>
            <a:endParaRPr lang="en-US" sz="1650"/>
          </a:p>
          <a:p>
            <a:pPr algn="l"/>
            <a:r>
              <a:rPr lang="en-US" sz="1650">
                <a:solidFill>
                  <a:srgbClr val="334155"/>
                </a:solidFill>
              </a:rPr>
              <a:t>4. After login, the system shows a dashboard based on your role.</a:t>
            </a:r>
            <a:endParaRPr lang="en-US" sz="1650"/>
          </a:p>
          <a:p>
            <a:pPr algn="l"/>
            <a:r>
              <a:rPr lang="en-US" sz="1650">
                <a:solidFill>
                  <a:srgbClr val="334155"/>
                </a:solidFill>
              </a:rPr>
              <a:t>5. Use the main menu to open reports, cases, 3D viewer, or AI chatbot tools.</a:t>
            </a:r>
            <a:endParaRPr lang="en-US" sz="1650"/>
          </a:p>
          <a:p>
            <a:pPr algn="l"/>
            <a:r>
              <a:rPr lang="en-US" sz="1650">
                <a:solidFill>
                  <a:srgbClr val="334155"/>
                </a:solidFill>
              </a:rPr>
              <a:t>6. Always log out after use, especially on public or shared computers.</a:t>
            </a:r>
            <a:endParaRPr lang="en-US" sz="1650"/>
          </a:p>
        </p:txBody>
      </p:sp>
      <p:sp>
        <p:nvSpPr>
          <p:cNvPr id="5" name="Footer"/>
          <p:cNvSpPr txBox="1"/>
          <p:nvPr/>
        </p:nvSpPr>
        <p:spPr>
          <a:xfrm>
            <a:off x="520000" y="4600000"/>
            <a:ext cx="8050000" cy="25000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l"/>
            <a:r>
              <a:rPr lang="en-US" sz="1100">
                <a:solidFill>
                  <a:srgbClr val="64748B"/>
                </a:solidFill>
              </a:rPr>
              <a:t>Slide 3 of 11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0" y="0"/>
            <a:ext cx="9144000" cy="240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520000" y="320000"/>
            <a:ext cx="8100000" cy="60000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l"/>
            <a:r>
              <a:rPr lang="en-US" sz="2800" b="1">
                <a:solidFill>
                  <a:srgbClr val="17324D"/>
                </a:solidFill>
              </a:rPr>
              <a:t>Homeowner: Access and Prepare Evidence</a:t>
            </a:r>
            <a:endParaRPr lang="en-US" sz="2800"/>
          </a:p>
        </p:txBody>
      </p:sp>
      <p:sp>
        <p:nvSpPr>
          <p:cNvPr id="4" name="Body"/>
          <p:cNvSpPr txBox="1"/>
          <p:nvPr/>
        </p:nvSpPr>
        <p:spPr>
          <a:xfrm>
            <a:off x="520000" y="1020000"/>
            <a:ext cx="8050000" cy="360000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l"/>
            <a:r>
              <a:rPr lang="en-US" sz="1600">
                <a:solidFill>
                  <a:srgbClr val="334155"/>
                </a:solidFill>
              </a:rPr>
              <a:t>1. Register as a Homeowner and enter the homeowner dashboard after login.</a:t>
            </a:r>
            <a:endParaRPr lang="en-US" sz="1600"/>
          </a:p>
          <a:p>
            <a:pPr algn="l"/>
            <a:r>
              <a:rPr lang="en-US" sz="1600">
                <a:solidFill>
                  <a:srgbClr val="334155"/>
                </a:solidFill>
              </a:rPr>
              <a:t>2. Open the 3D Defect Visualizer if you want to inspect the property model first.</a:t>
            </a:r>
            <a:endParaRPr lang="en-US" sz="1600"/>
          </a:p>
          <a:p>
            <a:pPr algn="l"/>
            <a:r>
              <a:rPr lang="en-US" sz="1600">
                <a:solidFill>
                  <a:srgbClr val="334155"/>
                </a:solidFill>
              </a:rPr>
              <a:t>3. Upload the property model in GLB format only, with a maximum size of 50MB.</a:t>
            </a:r>
            <a:endParaRPr lang="en-US" sz="1600"/>
          </a:p>
          <a:p>
            <a:pPr algn="l"/>
            <a:r>
              <a:rPr lang="en-US" sz="1600">
                <a:solidFill>
                  <a:srgbClr val="334155"/>
                </a:solidFill>
              </a:rPr>
              <a:t>4. Use rotate, zoom, and pan controls to inspect the affected area clearly.</a:t>
            </a:r>
            <a:endParaRPr lang="en-US" sz="1600"/>
          </a:p>
          <a:p>
            <a:pPr algn="l"/>
            <a:r>
              <a:rPr lang="en-US" sz="1600">
                <a:solidFill>
                  <a:srgbClr val="334155"/>
                </a:solidFill>
              </a:rPr>
              <a:t>5. Take clear evidence photos before creating the complaint record.</a:t>
            </a:r>
            <a:endParaRPr lang="en-US" sz="1600"/>
          </a:p>
          <a:p>
            <a:pPr algn="l"/>
            <a:r>
              <a:rPr lang="en-US" sz="1600">
                <a:solidFill>
                  <a:srgbClr val="334155"/>
                </a:solidFill>
              </a:rPr>
              <a:t>6. Prepare the defect details such as location, category, and description.</a:t>
            </a:r>
            <a:endParaRPr lang="en-US" sz="1600"/>
          </a:p>
        </p:txBody>
      </p:sp>
      <p:sp>
        <p:nvSpPr>
          <p:cNvPr id="5" name="Footer"/>
          <p:cNvSpPr txBox="1"/>
          <p:nvPr/>
        </p:nvSpPr>
        <p:spPr>
          <a:xfrm>
            <a:off x="520000" y="4600000"/>
            <a:ext cx="8050000" cy="25000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l"/>
            <a:r>
              <a:rPr lang="en-US" sz="1100">
                <a:solidFill>
                  <a:srgbClr val="64748B"/>
                </a:solidFill>
              </a:rPr>
              <a:t>Slide 4 of 11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0" y="0"/>
            <a:ext cx="9144000" cy="240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520000" y="320000"/>
            <a:ext cx="8100000" cy="60000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l"/>
            <a:r>
              <a:rPr lang="en-US" sz="2800" b="1">
                <a:solidFill>
                  <a:srgbClr val="17324D"/>
                </a:solidFill>
              </a:rPr>
              <a:t>Homeowner: Submit Report and Track Status</a:t>
            </a:r>
            <a:endParaRPr lang="en-US" sz="2800"/>
          </a:p>
        </p:txBody>
      </p:sp>
      <p:sp>
        <p:nvSpPr>
          <p:cNvPr id="4" name="Body"/>
          <p:cNvSpPr txBox="1"/>
          <p:nvPr/>
        </p:nvSpPr>
        <p:spPr>
          <a:xfrm>
            <a:off x="520000" y="1020000"/>
            <a:ext cx="8050000" cy="360000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l"/>
            <a:r>
              <a:rPr lang="en-US" sz="1550">
                <a:solidFill>
                  <a:srgbClr val="334155"/>
                </a:solidFill>
              </a:rPr>
              <a:t>1. Click Create Report or New Report from the dashboard.</a:t>
            </a:r>
            <a:endParaRPr lang="en-US" sz="1550"/>
          </a:p>
          <a:p>
            <a:pPr algn="l"/>
            <a:r>
              <a:rPr lang="en-US" sz="1550">
                <a:solidFill>
                  <a:srgbClr val="334155"/>
                </a:solidFill>
              </a:rPr>
              <a:t>2. Enter the report title, defect category, defect location, and detailed explanation.</a:t>
            </a:r>
            <a:endParaRPr lang="en-US" sz="1550"/>
          </a:p>
          <a:p>
            <a:pPr algn="l"/>
            <a:r>
              <a:rPr lang="en-US" sz="1550">
                <a:solidFill>
                  <a:srgbClr val="334155"/>
                </a:solidFill>
              </a:rPr>
              <a:t>3. Upload evidence photos and attach the related 3D model if needed.</a:t>
            </a:r>
            <a:endParaRPr lang="en-US" sz="1550"/>
          </a:p>
          <a:p>
            <a:pPr algn="l"/>
            <a:r>
              <a:rPr lang="en-US" sz="1550">
                <a:solidFill>
                  <a:srgbClr val="334155"/>
                </a:solidFill>
              </a:rPr>
              <a:t>4. Submit the report so it can be reviewed by the developer.</a:t>
            </a:r>
            <a:endParaRPr lang="en-US" sz="1550"/>
          </a:p>
          <a:p>
            <a:pPr algn="l"/>
            <a:r>
              <a:rPr lang="en-US" sz="1550">
                <a:solidFill>
                  <a:srgbClr val="334155"/>
                </a:solidFill>
              </a:rPr>
              <a:t>5. Open My Cases or Report Status to monitor progress after submission.</a:t>
            </a:r>
            <a:endParaRPr lang="en-US" sz="1550"/>
          </a:p>
          <a:p>
            <a:pPr algn="l"/>
            <a:r>
              <a:rPr lang="en-US" sz="1550">
                <a:solidFill>
                  <a:srgbClr val="334155"/>
                </a:solidFill>
              </a:rPr>
              <a:t>6. The status normally changes from Reported to In Progress to Resolved.</a:t>
            </a:r>
            <a:endParaRPr lang="en-US" sz="1550"/>
          </a:p>
          <a:p>
            <a:pPr algn="l"/>
            <a:r>
              <a:rPr lang="en-US" sz="1550">
                <a:solidFill>
                  <a:srgbClr val="334155"/>
                </a:solidFill>
              </a:rPr>
              <a:t>7. Use the AI Legal Chatbot to ask about DLP rights, SPA clauses, or next steps.</a:t>
            </a:r>
            <a:endParaRPr lang="en-US" sz="1550"/>
          </a:p>
        </p:txBody>
      </p:sp>
      <p:sp>
        <p:nvSpPr>
          <p:cNvPr id="5" name="Footer"/>
          <p:cNvSpPr txBox="1"/>
          <p:nvPr/>
        </p:nvSpPr>
        <p:spPr>
          <a:xfrm>
            <a:off x="520000" y="4600000"/>
            <a:ext cx="8050000" cy="25000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l"/>
            <a:r>
              <a:rPr lang="en-US" sz="1100">
                <a:solidFill>
                  <a:srgbClr val="64748B"/>
                </a:solidFill>
              </a:rPr>
              <a:t>Slide 5 of 11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0" y="0"/>
            <a:ext cx="9144000" cy="240000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520000" y="320000"/>
            <a:ext cx="8100000" cy="60000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l"/>
            <a:r>
              <a:rPr lang="en-US" sz="2800" b="1">
                <a:solidFill>
                  <a:srgbClr val="17324D"/>
                </a:solidFill>
              </a:rPr>
              <a:t>Developer: Review Incoming Defect Cases</a:t>
            </a:r>
            <a:endParaRPr lang="en-US" sz="2800"/>
          </a:p>
        </p:txBody>
      </p:sp>
      <p:sp>
        <p:nvSpPr>
          <p:cNvPr id="4" name="Body"/>
          <p:cNvSpPr txBox="1"/>
          <p:nvPr/>
        </p:nvSpPr>
        <p:spPr>
          <a:xfrm>
            <a:off x="520000" y="1020000"/>
            <a:ext cx="8050000" cy="360000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l"/>
            <a:r>
              <a:rPr lang="en-US" sz="1600">
                <a:solidFill>
                  <a:srgbClr val="334155"/>
                </a:solidFill>
              </a:rPr>
              <a:t>1. Log in using a Developer account to access the developer dashboard.</a:t>
            </a:r>
            <a:endParaRPr lang="en-US" sz="1600"/>
          </a:p>
          <a:p>
            <a:pPr algn="l"/>
            <a:r>
              <a:rPr lang="en-US" sz="1600">
                <a:solidFill>
                  <a:srgbClr val="334155"/>
                </a:solidFill>
              </a:rPr>
              <a:t>2. Open Incoming Reports, Defect List, or the relevant complaint menu.</a:t>
            </a:r>
            <a:endParaRPr lang="en-US" sz="1600"/>
          </a:p>
          <a:p>
            <a:pPr algn="l"/>
            <a:r>
              <a:rPr lang="en-US" sz="1600">
                <a:solidFill>
                  <a:srgbClr val="334155"/>
                </a:solidFill>
              </a:rPr>
              <a:t>3. Review each report carefully, including description, location, and severity.</a:t>
            </a:r>
            <a:endParaRPr lang="en-US" sz="1600"/>
          </a:p>
          <a:p>
            <a:pPr algn="l"/>
            <a:r>
              <a:rPr lang="en-US" sz="1600">
                <a:solidFill>
                  <a:srgbClr val="334155"/>
                </a:solidFill>
              </a:rPr>
              <a:t>4. Open the uploaded evidence photos to verify the reported issue.</a:t>
            </a:r>
            <a:endParaRPr lang="en-US" sz="1600"/>
          </a:p>
          <a:p>
            <a:pPr algn="l"/>
            <a:r>
              <a:rPr lang="en-US" sz="1600">
                <a:solidFill>
                  <a:srgbClr val="334155"/>
                </a:solidFill>
              </a:rPr>
              <a:t>5. Check the 3D model if provided to understand the defect position more clearly.</a:t>
            </a:r>
            <a:endParaRPr lang="en-US" sz="1600"/>
          </a:p>
          <a:p>
            <a:pPr algn="l"/>
            <a:r>
              <a:rPr lang="en-US" sz="1600">
                <a:solidFill>
                  <a:srgbClr val="334155"/>
                </a:solidFill>
              </a:rPr>
              <a:t>6. Use the complaint information to plan the required repair action.</a:t>
            </a:r>
            <a:endParaRPr lang="en-US" sz="1600"/>
          </a:p>
        </p:txBody>
      </p:sp>
      <p:sp>
        <p:nvSpPr>
          <p:cNvPr id="5" name="Footer"/>
          <p:cNvSpPr txBox="1"/>
          <p:nvPr/>
        </p:nvSpPr>
        <p:spPr>
          <a:xfrm>
            <a:off x="520000" y="4600000"/>
            <a:ext cx="8050000" cy="25000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l"/>
            <a:r>
              <a:rPr lang="en-US" sz="1100">
                <a:solidFill>
                  <a:srgbClr val="64748B"/>
                </a:solidFill>
              </a:rPr>
              <a:t>Slide 6 of 11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0" y="0"/>
            <a:ext cx="9144000" cy="240000"/>
          </a:xfrm>
          <a:prstGeom prst="rect">
            <a:avLst/>
          </a:prstGeom>
          <a:solidFill>
            <a:srgbClr val="A16207"/>
          </a:solidFill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520000" y="320000"/>
            <a:ext cx="8100000" cy="60000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l"/>
            <a:r>
              <a:rPr lang="en-US" sz="2800" b="1">
                <a:solidFill>
                  <a:srgbClr val="17324D"/>
                </a:solidFill>
              </a:rPr>
              <a:t>Developer: Update Repair Progress</a:t>
            </a:r>
            <a:endParaRPr lang="en-US" sz="2800"/>
          </a:p>
        </p:txBody>
      </p:sp>
      <p:sp>
        <p:nvSpPr>
          <p:cNvPr id="4" name="Body"/>
          <p:cNvSpPr txBox="1"/>
          <p:nvPr/>
        </p:nvSpPr>
        <p:spPr>
          <a:xfrm>
            <a:off x="520000" y="1020000"/>
            <a:ext cx="8050000" cy="360000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l"/>
            <a:r>
              <a:rPr lang="en-US" sz="1550">
                <a:solidFill>
                  <a:srgbClr val="334155"/>
                </a:solidFill>
              </a:rPr>
              <a:t>1. Select the case that is currently being repaired or reviewed.</a:t>
            </a:r>
            <a:endParaRPr lang="en-US" sz="1550"/>
          </a:p>
          <a:p>
            <a:pPr algn="l"/>
            <a:r>
              <a:rPr lang="en-US" sz="1550">
                <a:solidFill>
                  <a:srgbClr val="334155"/>
                </a:solidFill>
              </a:rPr>
              <a:t>2. Update the case status to reflect the latest repair condition.</a:t>
            </a:r>
            <a:endParaRPr lang="en-US" sz="1550"/>
          </a:p>
          <a:p>
            <a:pPr algn="l"/>
            <a:r>
              <a:rPr lang="en-US" sz="1550">
                <a:solidFill>
                  <a:srgbClr val="334155"/>
                </a:solidFill>
              </a:rPr>
              <a:t>3. Use In Progress when repair work has started but is not yet completed.</a:t>
            </a:r>
            <a:endParaRPr lang="en-US" sz="1550"/>
          </a:p>
          <a:p>
            <a:pPr algn="l"/>
            <a:r>
              <a:rPr lang="en-US" sz="1550">
                <a:solidFill>
                  <a:srgbClr val="334155"/>
                </a:solidFill>
              </a:rPr>
              <a:t>4. Use Resolved when the defect has been fixed and the case is completed.</a:t>
            </a:r>
            <a:endParaRPr lang="en-US" sz="1550"/>
          </a:p>
          <a:p>
            <a:pPr algn="l"/>
            <a:r>
              <a:rPr lang="en-US" sz="1550">
                <a:solidFill>
                  <a:srgbClr val="334155"/>
                </a:solidFill>
              </a:rPr>
              <a:t>5. Add repair notes to record the action taken, progress, or completion details.</a:t>
            </a:r>
            <a:endParaRPr lang="en-US" sz="1550"/>
          </a:p>
          <a:p>
            <a:pPr algn="l"/>
            <a:r>
              <a:rPr lang="en-US" sz="1550">
                <a:solidFill>
                  <a:srgbClr val="334155"/>
                </a:solidFill>
              </a:rPr>
              <a:t>6. Save the update so the Homeowner and Lawyer can view the latest case status.</a:t>
            </a:r>
            <a:endParaRPr lang="en-US" sz="1550"/>
          </a:p>
          <a:p>
            <a:pPr algn="l"/>
            <a:r>
              <a:rPr lang="en-US" sz="1550">
                <a:solidFill>
                  <a:srgbClr val="334155"/>
                </a:solidFill>
              </a:rPr>
              <a:t>7. Generate a repair report if documentation is needed for record keeping.</a:t>
            </a:r>
            <a:endParaRPr lang="en-US" sz="1550"/>
          </a:p>
        </p:txBody>
      </p:sp>
      <p:sp>
        <p:nvSpPr>
          <p:cNvPr id="5" name="Footer"/>
          <p:cNvSpPr txBox="1"/>
          <p:nvPr/>
        </p:nvSpPr>
        <p:spPr>
          <a:xfrm>
            <a:off x="520000" y="4600000"/>
            <a:ext cx="8050000" cy="25000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l"/>
            <a:r>
              <a:rPr lang="en-US" sz="1100">
                <a:solidFill>
                  <a:srgbClr val="64748B"/>
                </a:solidFill>
              </a:rPr>
              <a:t>Slide 7 of 11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0" y="0"/>
            <a:ext cx="9144000" cy="240000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520000" y="320000"/>
            <a:ext cx="8100000" cy="60000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l"/>
            <a:r>
              <a:rPr lang="en-US" sz="2800" b="1">
                <a:solidFill>
                  <a:srgbClr val="17324D"/>
                </a:solidFill>
              </a:rPr>
              <a:t>Lawyer: Review Case Information</a:t>
            </a:r>
            <a:endParaRPr lang="en-US" sz="2800"/>
          </a:p>
        </p:txBody>
      </p:sp>
      <p:sp>
        <p:nvSpPr>
          <p:cNvPr id="4" name="Body"/>
          <p:cNvSpPr txBox="1"/>
          <p:nvPr/>
        </p:nvSpPr>
        <p:spPr>
          <a:xfrm>
            <a:off x="520000" y="1020000"/>
            <a:ext cx="8050000" cy="360000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l"/>
            <a:r>
              <a:rPr lang="en-US" sz="1600">
                <a:solidFill>
                  <a:srgbClr val="334155"/>
                </a:solidFill>
              </a:rPr>
              <a:t>1. Log in using a Lawyer account to open the lawyer dashboard.</a:t>
            </a:r>
            <a:endParaRPr lang="en-US" sz="1600"/>
          </a:p>
          <a:p>
            <a:pPr algn="l"/>
            <a:r>
              <a:rPr lang="en-US" sz="1600">
                <a:solidFill>
                  <a:srgbClr val="334155"/>
                </a:solidFill>
              </a:rPr>
              <a:t>2. Open the Case List to view cases that need legal review.</a:t>
            </a:r>
            <a:endParaRPr lang="en-US" sz="1600"/>
          </a:p>
          <a:p>
            <a:pPr algn="l"/>
            <a:r>
              <a:rPr lang="en-US" sz="1600">
                <a:solidFill>
                  <a:srgbClr val="334155"/>
                </a:solidFill>
              </a:rPr>
              <a:t>3. Select a case to read the homeowner complaint and reported defect details.</a:t>
            </a:r>
            <a:endParaRPr lang="en-US" sz="1600"/>
          </a:p>
          <a:p>
            <a:pPr algn="l"/>
            <a:r>
              <a:rPr lang="en-US" sz="1600">
                <a:solidFill>
                  <a:srgbClr val="334155"/>
                </a:solidFill>
              </a:rPr>
              <a:t>4. Review the uploaded evidence photos and check the case status history.</a:t>
            </a:r>
            <a:endParaRPr lang="en-US" sz="1600"/>
          </a:p>
          <a:p>
            <a:pPr algn="l"/>
            <a:r>
              <a:rPr lang="en-US" sz="1600">
                <a:solidFill>
                  <a:srgbClr val="334155"/>
                </a:solidFill>
              </a:rPr>
              <a:t>5. Read any developer notes to understand the repair response and timeline.</a:t>
            </a:r>
            <a:endParaRPr lang="en-US" sz="1600"/>
          </a:p>
          <a:p>
            <a:pPr algn="l"/>
            <a:r>
              <a:rPr lang="en-US" sz="1600">
                <a:solidFill>
                  <a:srgbClr val="334155"/>
                </a:solidFill>
              </a:rPr>
              <a:t>6. Examine the 3D property model if it helps clarify the defect location.</a:t>
            </a:r>
            <a:endParaRPr lang="en-US" sz="1600"/>
          </a:p>
        </p:txBody>
      </p:sp>
      <p:sp>
        <p:nvSpPr>
          <p:cNvPr id="5" name="Footer"/>
          <p:cNvSpPr txBox="1"/>
          <p:nvPr/>
        </p:nvSpPr>
        <p:spPr>
          <a:xfrm>
            <a:off x="520000" y="4600000"/>
            <a:ext cx="8050000" cy="25000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l"/>
            <a:r>
              <a:rPr lang="en-US" sz="1100">
                <a:solidFill>
                  <a:srgbClr val="64748B"/>
                </a:solidFill>
              </a:rPr>
              <a:t>Slide 8 of 11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0" y="0"/>
            <a:ext cx="9144000" cy="240000"/>
          </a:xfrm>
          <a:prstGeom prst="rect">
            <a:avLst/>
          </a:prstGeom>
          <a:solidFill>
            <a:srgbClr val="7E22CE"/>
          </a:solidFill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520000" y="320000"/>
            <a:ext cx="8100000" cy="60000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l"/>
            <a:r>
              <a:rPr lang="en-US" sz="2800" b="1">
                <a:solidFill>
                  <a:srgbClr val="17324D"/>
                </a:solidFill>
              </a:rPr>
              <a:t>Lawyer: Legal Support and Documentation</a:t>
            </a:r>
            <a:endParaRPr lang="en-US" sz="2800"/>
          </a:p>
        </p:txBody>
      </p:sp>
      <p:sp>
        <p:nvSpPr>
          <p:cNvPr id="4" name="Body"/>
          <p:cNvSpPr txBox="1"/>
          <p:nvPr/>
        </p:nvSpPr>
        <p:spPr>
          <a:xfrm>
            <a:off x="520000" y="1020000"/>
            <a:ext cx="8050000" cy="360000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l"/>
            <a:r>
              <a:rPr lang="en-US" sz="1550">
                <a:solidFill>
                  <a:srgbClr val="334155"/>
                </a:solidFill>
              </a:rPr>
              <a:t>1. Add legal comments or review notes if the case requires legal interpretation.</a:t>
            </a:r>
            <a:endParaRPr lang="en-US" sz="1550"/>
          </a:p>
          <a:p>
            <a:pPr algn="l"/>
            <a:r>
              <a:rPr lang="en-US" sz="1550">
                <a:solidFill>
                  <a:srgbClr val="334155"/>
                </a:solidFill>
              </a:rPr>
              <a:t>2. Use the AI Legal Chatbot for references on DLP rules, SPA clauses, or obligations.</a:t>
            </a:r>
            <a:endParaRPr lang="en-US" sz="1550"/>
          </a:p>
          <a:p>
            <a:pPr algn="l"/>
            <a:r>
              <a:rPr lang="en-US" sz="1550">
                <a:solidFill>
                  <a:srgbClr val="334155"/>
                </a:solidFill>
              </a:rPr>
              <a:t>3. Ask focused questions so the chatbot can provide more relevant guidance.</a:t>
            </a:r>
            <a:endParaRPr lang="en-US" sz="1550"/>
          </a:p>
          <a:p>
            <a:pPr algn="l"/>
            <a:r>
              <a:rPr lang="en-US" sz="1550">
                <a:solidFill>
                  <a:srgbClr val="334155"/>
                </a:solidFill>
              </a:rPr>
              <a:t>4. Use the chatbot response as supporting reference, not as the only legal conclusion.</a:t>
            </a:r>
            <a:endParaRPr lang="en-US" sz="1550"/>
          </a:p>
          <a:p>
            <a:pPr algn="l"/>
            <a:r>
              <a:rPr lang="en-US" sz="1550">
                <a:solidFill>
                  <a:srgbClr val="334155"/>
                </a:solidFill>
              </a:rPr>
              <a:t>5. Generate a legal report if formal documentation is needed for follow-up action.</a:t>
            </a:r>
            <a:endParaRPr lang="en-US" sz="1550"/>
          </a:p>
          <a:p>
            <a:pPr algn="l"/>
            <a:r>
              <a:rPr lang="en-US" sz="1550">
                <a:solidFill>
                  <a:srgbClr val="334155"/>
                </a:solidFill>
              </a:rPr>
              <a:t>6. Keep the case record complete so legal review is traceable and well documented.</a:t>
            </a:r>
            <a:endParaRPr lang="en-US" sz="1550"/>
          </a:p>
        </p:txBody>
      </p:sp>
      <p:sp>
        <p:nvSpPr>
          <p:cNvPr id="5" name="Footer"/>
          <p:cNvSpPr txBox="1"/>
          <p:nvPr/>
        </p:nvSpPr>
        <p:spPr>
          <a:xfrm>
            <a:off x="520000" y="4600000"/>
            <a:ext cx="8050000" cy="25000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l"/>
            <a:r>
              <a:rPr lang="en-US" sz="1100">
                <a:solidFill>
                  <a:srgbClr val="64748B"/>
                </a:solidFill>
              </a:rPr>
              <a:t>Slide 9 of 11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0" y="0"/>
            <a:ext cx="9144000" cy="240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520000" y="320000"/>
            <a:ext cx="8100000" cy="60000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l"/>
            <a:r>
              <a:rPr lang="en-US" sz="2800" b="1">
                <a:solidFill>
                  <a:srgbClr val="17324D"/>
                </a:solidFill>
              </a:rPr>
              <a:t>Important Rules and Usage Notes</a:t>
            </a:r>
            <a:endParaRPr lang="en-US" sz="2800"/>
          </a:p>
        </p:txBody>
      </p:sp>
      <p:sp>
        <p:nvSpPr>
          <p:cNvPr id="4" name="Body"/>
          <p:cNvSpPr txBox="1"/>
          <p:nvPr/>
        </p:nvSpPr>
        <p:spPr>
          <a:xfrm>
            <a:off x="520000" y="1020000"/>
            <a:ext cx="8050000" cy="360000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l"/>
            <a:r>
              <a:rPr lang="en-US" sz="1550">
                <a:solidFill>
                  <a:srgbClr val="334155"/>
                </a:solidFill>
              </a:rPr>
              <a:t>1. Upload 3D property files in GLB format only.</a:t>
            </a:r>
            <a:endParaRPr lang="en-US" sz="1550"/>
          </a:p>
          <a:p>
            <a:pPr algn="l"/>
            <a:r>
              <a:rPr lang="en-US" sz="1550">
                <a:solidFill>
                  <a:srgbClr val="334155"/>
                </a:solidFill>
              </a:rPr>
              <a:t>2. The maximum upload size allowed by the system is 50MB.</a:t>
            </a:r>
            <a:endParaRPr lang="en-US" sz="1550"/>
          </a:p>
          <a:p>
            <a:pPr algn="l"/>
            <a:r>
              <a:rPr lang="en-US" sz="1550">
                <a:solidFill>
                  <a:srgbClr val="334155"/>
                </a:solidFill>
              </a:rPr>
              <a:t>3. Evidence photos should be clear, relevant, and easy to identify.</a:t>
            </a:r>
            <a:endParaRPr lang="en-US" sz="1550"/>
          </a:p>
          <a:p>
            <a:pPr algn="l"/>
            <a:r>
              <a:rPr lang="en-US" sz="1550">
                <a:solidFill>
                  <a:srgbClr val="334155"/>
                </a:solidFill>
              </a:rPr>
              <a:t>4. Always confirm that you are using the correct role dashboard before making updates.</a:t>
            </a:r>
            <a:endParaRPr lang="en-US" sz="1550"/>
          </a:p>
          <a:p>
            <a:pPr algn="l"/>
            <a:r>
              <a:rPr lang="en-US" sz="1550">
                <a:solidFill>
                  <a:srgbClr val="334155"/>
                </a:solidFill>
              </a:rPr>
              <a:t>5. Use accurate case notes so other roles can understand the current situation.</a:t>
            </a:r>
            <a:endParaRPr lang="en-US" sz="1550"/>
          </a:p>
          <a:p>
            <a:pPr algn="l"/>
            <a:r>
              <a:rPr lang="en-US" sz="1550">
                <a:solidFill>
                  <a:srgbClr val="334155"/>
                </a:solidFill>
              </a:rPr>
              <a:t>6. Invalid links or pages display a custom 404 page.</a:t>
            </a:r>
            <a:endParaRPr lang="en-US" sz="1550"/>
          </a:p>
          <a:p>
            <a:pPr algn="l"/>
            <a:r>
              <a:rPr lang="en-US" sz="1550">
                <a:solidFill>
                  <a:srgbClr val="334155"/>
                </a:solidFill>
              </a:rPr>
              <a:t>7. Unexpected internal failures display a custom 500 page.</a:t>
            </a:r>
            <a:endParaRPr lang="en-US" sz="1550"/>
          </a:p>
        </p:txBody>
      </p:sp>
      <p:sp>
        <p:nvSpPr>
          <p:cNvPr id="5" name="Footer"/>
          <p:cNvSpPr txBox="1"/>
          <p:nvPr/>
        </p:nvSpPr>
        <p:spPr>
          <a:xfrm>
            <a:off x="520000" y="4600000"/>
            <a:ext cx="8050000" cy="25000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l"/>
            <a:r>
              <a:rPr lang="en-US" sz="1100">
                <a:solidFill>
                  <a:srgbClr val="64748B"/>
                </a:solidFill>
              </a:rPr>
              <a:t>Slide 10 of 11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0" y="0"/>
            <a:ext cx="9144000" cy="240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520000" y="320000"/>
            <a:ext cx="8100000" cy="60000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l"/>
            <a:r>
              <a:rPr lang="en-US" sz="2800" b="1">
                <a:solidFill>
                  <a:srgbClr val="17324D"/>
                </a:solidFill>
              </a:rPr>
              <a:t>Summary</a:t>
            </a:r>
            <a:endParaRPr lang="en-US" sz="2800"/>
          </a:p>
        </p:txBody>
      </p:sp>
      <p:sp>
        <p:nvSpPr>
          <p:cNvPr id="4" name="Body"/>
          <p:cNvSpPr txBox="1"/>
          <p:nvPr/>
        </p:nvSpPr>
        <p:spPr>
          <a:xfrm>
            <a:off x="520000" y="1020000"/>
            <a:ext cx="8050000" cy="360000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l"/>
            <a:r>
              <a:rPr lang="en-US" sz="1650">
                <a:solidFill>
                  <a:srgbClr val="334155"/>
                </a:solidFill>
              </a:rPr>
              <a:t>1. Homeowner users report defects, upload evidence, track status, and ask legal questions.</a:t>
            </a:r>
            <a:endParaRPr lang="en-US" sz="1650"/>
          </a:p>
          <a:p>
            <a:pPr algn="l"/>
            <a:r>
              <a:rPr lang="en-US" sz="1650">
                <a:solidFill>
                  <a:srgbClr val="334155"/>
                </a:solidFill>
              </a:rPr>
              <a:t>2. Developer users review complaints, manage repairs, update progress, and close cases.</a:t>
            </a:r>
            <a:endParaRPr lang="en-US" sz="1650"/>
          </a:p>
          <a:p>
            <a:pPr algn="l"/>
            <a:r>
              <a:rPr lang="en-US" sz="1650">
                <a:solidFill>
                  <a:srgbClr val="334155"/>
                </a:solidFill>
              </a:rPr>
              <a:t>3. Lawyer users examine case records, support legal review, and generate legal documentation.</a:t>
            </a:r>
            <a:endParaRPr lang="en-US" sz="1650"/>
          </a:p>
          <a:p>
            <a:pPr algn="l"/>
            <a:r>
              <a:rPr lang="en-US" sz="1650">
                <a:solidFill>
                  <a:srgbClr val="334155"/>
                </a:solidFill>
              </a:rPr>
              <a:t>4. The platform keeps the DLP workflow centralized, traceable, and easier to manage.</a:t>
            </a:r>
            <a:endParaRPr lang="en-US" sz="1650"/>
          </a:p>
          <a:p>
            <a:pPr algn="l"/>
            <a:r>
              <a:rPr lang="en-US" sz="1650">
                <a:solidFill>
                  <a:srgbClr val="334155"/>
                </a:solidFill>
              </a:rPr>
              <a:t>5. This improves communication between all parties involved in the defect claim process.</a:t>
            </a:r>
            <a:endParaRPr lang="en-US" sz="1650"/>
          </a:p>
        </p:txBody>
      </p:sp>
      <p:sp>
        <p:nvSpPr>
          <p:cNvPr id="5" name="Footer"/>
          <p:cNvSpPr txBox="1"/>
          <p:nvPr/>
        </p:nvSpPr>
        <p:spPr>
          <a:xfrm>
            <a:off x="520000" y="4600000"/>
            <a:ext cx="8050000" cy="25000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l"/>
            <a:r>
              <a:rPr lang="en-US" sz="1100">
                <a:solidFill>
                  <a:srgbClr val="64748B"/>
                </a:solidFill>
              </a:rPr>
              <a:t>Slide 11 of 11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LP Advisor Theme">
  <a:themeElements>
    <a:clrScheme name="DLP Colors">
      <a:dk1>
        <a:srgbClr val="111827"/>
      </a:dk1>
      <a:lt1>
        <a:srgbClr val="FFFFFF"/>
      </a:lt1>
      <a:dk2>
        <a:srgbClr val="0F172A"/>
      </a:dk2>
      <a:lt2>
        <a:srgbClr val="F8FAFC"/>
      </a:lt2>
      <a:accent1>
        <a:srgbClr val="1D4ED8"/>
      </a:accent1>
      <a:accent2>
        <a:srgbClr val="0F766E"/>
      </a:accent2>
      <a:accent3>
        <a:srgbClr val="CA8A04"/>
      </a:accent3>
      <a:accent4>
        <a:srgbClr val="9333EA"/>
      </a:accent4>
      <a:accent5>
        <a:srgbClr val="DC2626"/>
      </a:accent5>
      <a:accent6>
        <a:srgbClr val="2563EB"/>
      </a:accent6>
      <a:hlink>
        <a:srgbClr val="2563EB"/>
      </a:hlink>
      <a:folHlink>
        <a:srgbClr val="7C3AED"/>
      </a:folHlink>
    </a:clrScheme>
    <a:fontScheme name="DLP Fonts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DLP Format">
      <a:fillStyleLst>
        <a:solidFill>
          <a:schemeClr val="phClr"/>
        </a:solidFill>
        <a:solidFill>
          <a:schemeClr val="accent1"/>
        </a:solidFill>
        <a:solidFill>
          <a:schemeClr val="accent2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accent1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1073</Words>
  <Application>Microsoft Office PowerPoint</Application>
  <PresentationFormat>On-screen Show (16:9)</PresentationFormat>
  <Paragraphs>88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DLP Advisor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DLP Advisor Platform Role Guide</dc:title>
  <dc:subject>Role-based website usage presentation</dc:subject>
  <dc:creator>Codex</dc:creator>
  <cp:keywords>DLP Advisor Platform, Homeowner, Developer, Lawyer</cp:keywords>
  <dc:description>PowerPoint guide for using the website by role.</dc:description>
  <cp:lastModifiedBy>Ahmad Abbas Bin Abu Dzarr</cp:lastModifiedBy>
  <cp:revision>1</cp:revision>
  <dcterms:created xsi:type="dcterms:W3CDTF">2026-05-19T01:44:21Z</dcterms:created>
  <dcterms:modified xsi:type="dcterms:W3CDTF">2026-05-19T01:46:21Z</dcterms:modified>
</cp:coreProperties>
</file>